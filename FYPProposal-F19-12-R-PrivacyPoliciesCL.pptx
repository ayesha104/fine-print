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5A9A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4191c6527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4191c652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4191c6527c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4191c6527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4191c6527c_0_2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4191c6527c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4191c6527c_1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4" name="Google Shape;224;g4191c6527c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 extrusionOk="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457200" y="4960137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2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w="19050" cap="flat" cmpd="sng">
            <a:solidFill>
              <a:srgbClr val="1482A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1"/>
          </p:nvPr>
        </p:nvSpPr>
        <p:spPr>
          <a:xfrm>
            <a:off x="1024128" y="2286000"/>
            <a:ext cx="97200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24127" y="2286000"/>
            <a:ext cx="47550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2"/>
          </p:nvPr>
        </p:nvSpPr>
        <p:spPr>
          <a:xfrm>
            <a:off x="5989320" y="2286000"/>
            <a:ext cx="47550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 extrusionOk="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5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w="19050" cap="flat" cmpd="sng">
            <a:solidFill>
              <a:srgbClr val="1482A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1024128" y="2179636"/>
            <a:ext cx="4755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 b="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2"/>
          </p:nvPr>
        </p:nvSpPr>
        <p:spPr>
          <a:xfrm>
            <a:off x="1024128" y="2967788"/>
            <a:ext cx="4755000" cy="3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3"/>
          </p:nvPr>
        </p:nvSpPr>
        <p:spPr>
          <a:xfrm>
            <a:off x="5990888" y="2179636"/>
            <a:ext cx="4755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 b="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4"/>
          </p:nvPr>
        </p:nvSpPr>
        <p:spPr>
          <a:xfrm>
            <a:off x="5990888" y="2967788"/>
            <a:ext cx="4755000" cy="3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1024128" y="471509"/>
            <a:ext cx="43890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5715000" y="822960"/>
            <a:ext cx="5678400" cy="51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marL="914400" lvl="1" indent="-355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🢝"/>
              <a:defRPr sz="2000"/>
            </a:lvl2pPr>
            <a:lvl3pPr marL="1371600" lvl="2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3pPr>
            <a:lvl4pPr marL="1828800" lvl="3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4pPr>
            <a:lvl5pPr marL="2286000" lvl="4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5pPr>
            <a:lvl6pPr marL="274320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6pPr>
            <a:lvl7pPr marL="320040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7pPr>
            <a:lvl8pPr marL="365760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8pPr>
            <a:lvl9pPr marL="411480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🢝"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1024128" y="2257506"/>
            <a:ext cx="4389000" cy="3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457200" y="4960138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>
            <a:spLocks noGrp="1"/>
          </p:cNvSpPr>
          <p:nvPr>
            <p:ph type="pic" idx="2"/>
          </p:nvPr>
        </p:nvSpPr>
        <p:spPr>
          <a:xfrm>
            <a:off x="0" y="-1"/>
            <a:ext cx="12189000" cy="4572000"/>
          </a:xfrm>
          <a:prstGeom prst="rect">
            <a:avLst/>
          </a:prstGeom>
          <a:solidFill>
            <a:srgbClr val="76CEEF"/>
          </a:solidFill>
          <a:ln>
            <a:noFill/>
          </a:ln>
        </p:spPr>
        <p:txBody>
          <a:bodyPr spcFirstLastPara="1" wrap="square" lIns="457200" tIns="365750" rIns="4570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wentieth Century"/>
              <a:buNone/>
              <a:defRPr sz="32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body" idx="1"/>
          </p:nvPr>
        </p:nvSpPr>
        <p:spPr>
          <a:xfrm>
            <a:off x="8610600" y="4960138"/>
            <a:ext cx="32004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9" name="Google Shape;79;p10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 rot="5400000">
            <a:off x="3872551" y="-562350"/>
            <a:ext cx="4023300" cy="9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91425" rIns="45700" bIns="91425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2" name="Google Shape;92;p12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024128" y="2286000"/>
            <a:ext cx="97200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sz="22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l" rtl="0">
              <a:spcBef>
                <a:spcPts val="0"/>
              </a:spcBef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l" rtl="0">
              <a:spcBef>
                <a:spcPts val="0"/>
              </a:spcBef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l" rtl="0">
              <a:spcBef>
                <a:spcPts val="0"/>
              </a:spcBef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l" rtl="0">
              <a:spcBef>
                <a:spcPts val="0"/>
              </a:spcBef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l" rtl="0">
              <a:spcBef>
                <a:spcPts val="0"/>
              </a:spcBef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l" rtl="0">
              <a:spcBef>
                <a:spcPts val="0"/>
              </a:spcBef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l" rtl="0">
              <a:spcBef>
                <a:spcPts val="0"/>
              </a:spcBef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l" rtl="0">
              <a:spcBef>
                <a:spcPts val="0"/>
              </a:spcBef>
              <a:buNone/>
              <a:defRPr sz="1000" b="0" i="0" u="none" strike="noStrike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ytimes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orbes.com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1820007" y="1863450"/>
            <a:ext cx="8452997" cy="3131100"/>
          </a:xfrm>
          <a:prstGeom prst="rect">
            <a:avLst/>
          </a:prstGeom>
          <a:solidFill>
            <a:srgbClr val="000001">
              <a:alpha val="74901"/>
            </a:srgbClr>
          </a:solidFill>
          <a:ln>
            <a:noFill/>
          </a:ln>
          <a:effectLst>
            <a:outerShdw blurRad="50800" dist="12700" dir="5400000" algn="ctr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9" name="Google Shape;99;p13"/>
          <p:cNvSpPr txBox="1">
            <a:spLocks noGrp="1"/>
          </p:cNvSpPr>
          <p:nvPr>
            <p:ph type="ctrTitle"/>
          </p:nvPr>
        </p:nvSpPr>
        <p:spPr>
          <a:xfrm>
            <a:off x="2049982" y="2119413"/>
            <a:ext cx="8011200" cy="8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wentieth Century"/>
              <a:buNone/>
            </a:pPr>
            <a:r>
              <a:rPr lang="en-US">
                <a:solidFill>
                  <a:srgbClr val="FFFFFF"/>
                </a:solidFill>
              </a:rPr>
              <a:t>CYBER COMPLIANCE</a:t>
            </a:r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"/>
          </p:nvPr>
        </p:nvSpPr>
        <p:spPr>
          <a:xfrm>
            <a:off x="2049980" y="3658925"/>
            <a:ext cx="45582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solidFill>
                  <a:srgbClr val="FFFFFF"/>
                </a:solidFill>
              </a:rPr>
              <a:t>Supervisor: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solidFill>
                  <a:srgbClr val="FFFFFF"/>
                </a:solidFill>
              </a:rPr>
              <a:t>Dr. Mirza Omer Beg</a:t>
            </a:r>
            <a:endParaRPr sz="2400"/>
          </a:p>
        </p:txBody>
      </p:sp>
      <p:cxnSp>
        <p:nvCxnSpPr>
          <p:cNvPr id="101" name="Google Shape;101;p13"/>
          <p:cNvCxnSpPr>
            <a:cxnSpLocks/>
          </p:cNvCxnSpPr>
          <p:nvPr/>
        </p:nvCxnSpPr>
        <p:spPr>
          <a:xfrm>
            <a:off x="2180864" y="3429000"/>
            <a:ext cx="7252640" cy="0"/>
          </a:xfrm>
          <a:prstGeom prst="straightConnector1">
            <a:avLst/>
          </a:prstGeom>
          <a:noFill/>
          <a:ln w="22225" cap="flat" cmpd="sng">
            <a:solidFill>
              <a:srgbClr val="4AC4E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5400000" algn="ctr" rotWithShape="0">
              <a:srgbClr val="000000">
                <a:alpha val="49803"/>
              </a:srgbClr>
            </a:outerShdw>
          </a:effectLst>
        </p:spPr>
      </p:cxnSp>
      <p:sp>
        <p:nvSpPr>
          <p:cNvPr id="102" name="Google Shape;102;p13"/>
          <p:cNvSpPr txBox="1"/>
          <p:nvPr/>
        </p:nvSpPr>
        <p:spPr>
          <a:xfrm>
            <a:off x="6761257" y="3658923"/>
            <a:ext cx="38664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Twentieth Century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Group Members:</a:t>
            </a: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Twentieth Century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Ayesha Qamar i16-0104</a:t>
            </a:r>
            <a:endParaRPr sz="2400"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Twentieth Century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Tehreem Javed i16-0086</a:t>
            </a:r>
            <a:endParaRPr sz="2400"/>
          </a:p>
        </p:txBody>
      </p:sp>
      <p:sp>
        <p:nvSpPr>
          <p:cNvPr id="103" name="Google Shape;103;p13"/>
          <p:cNvSpPr txBox="1"/>
          <p:nvPr/>
        </p:nvSpPr>
        <p:spPr>
          <a:xfrm>
            <a:off x="2090400" y="2726438"/>
            <a:ext cx="80112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wentieth Century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PRIVACY POLICIES AND </a:t>
            </a:r>
            <a:r>
              <a:rPr lang="en-US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PROTECTION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LAWS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1454745" y="1569925"/>
            <a:ext cx="9201675" cy="3718150"/>
          </a:xfrm>
          <a:prstGeom prst="flowChartProcess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/>
          <p:nvPr/>
        </p:nvSpPr>
        <p:spPr>
          <a:xfrm>
            <a:off x="385481" y="360000"/>
            <a:ext cx="11421037" cy="615875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1" name="Google Shape;111;p14"/>
          <p:cNvSpPr txBox="1">
            <a:spLocks noGrp="1"/>
          </p:cNvSpPr>
          <p:nvPr>
            <p:ph type="title"/>
          </p:nvPr>
        </p:nvSpPr>
        <p:spPr>
          <a:xfrm>
            <a:off x="468607" y="500162"/>
            <a:ext cx="7853357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 dirty="0"/>
              <a:t>PROJECT OVERVIEW</a:t>
            </a:r>
            <a:endParaRPr dirty="0"/>
          </a:p>
        </p:txBody>
      </p:sp>
      <p:pic>
        <p:nvPicPr>
          <p:cNvPr id="112" name="Google Shape;112;p14"/>
          <p:cNvPicPr preferRelativeResize="0"/>
          <p:nvPr/>
        </p:nvPicPr>
        <p:blipFill rotWithShape="1">
          <a:blip r:embed="rId3">
            <a:alphaModFix/>
          </a:blip>
          <a:srcRect l="29138" t="13132" r="28977" b="12815"/>
          <a:stretch/>
        </p:blipFill>
        <p:spPr>
          <a:xfrm>
            <a:off x="8516896" y="998452"/>
            <a:ext cx="2761130" cy="488184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1605418" y="2815640"/>
            <a:ext cx="5739373" cy="98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91440" marR="0" lvl="0" indent="-1524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wentieth Century"/>
              <a:buChar char=" "/>
            </a:pPr>
            <a:r>
              <a:rPr lang="en-US" sz="2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 enable </a:t>
            </a:r>
            <a:r>
              <a:rPr lang="en-US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users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to check privacy policies against </a:t>
            </a:r>
            <a:r>
              <a:rPr lang="en-US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protection</a:t>
            </a:r>
            <a:r>
              <a:rPr lang="en-US" sz="2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laws. </a:t>
            </a:r>
            <a:endParaRPr sz="2400" b="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9144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None/>
            </a:pP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9144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None/>
            </a:pP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4" name="Google Shape;114;p14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385481" y="360000"/>
            <a:ext cx="11421000" cy="6158700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4487" y="357700"/>
            <a:ext cx="8102969" cy="615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B4F919-466B-4A05-A3C6-E75F275533B3}"/>
              </a:ext>
            </a:extLst>
          </p:cNvPr>
          <p:cNvSpPr txBox="1"/>
          <p:nvPr/>
        </p:nvSpPr>
        <p:spPr>
          <a:xfrm>
            <a:off x="2761566" y="1098577"/>
            <a:ext cx="171683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Twitter.com/privacy</a:t>
            </a:r>
            <a:endParaRPr lang="en-UM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27C28-B9B9-45D7-9A20-0E5FFE5BF17F}"/>
              </a:ext>
            </a:extLst>
          </p:cNvPr>
          <p:cNvSpPr txBox="1"/>
          <p:nvPr/>
        </p:nvSpPr>
        <p:spPr>
          <a:xfrm>
            <a:off x="5423901" y="1098576"/>
            <a:ext cx="171683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Singapore</a:t>
            </a:r>
            <a:endParaRPr lang="en-UM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456409-DF01-4919-93EA-0F83922E348E}"/>
              </a:ext>
            </a:extLst>
          </p:cNvPr>
          <p:cNvSpPr txBox="1"/>
          <p:nvPr/>
        </p:nvSpPr>
        <p:spPr>
          <a:xfrm>
            <a:off x="8401358" y="2006358"/>
            <a:ext cx="1748424" cy="523220"/>
          </a:xfrm>
          <a:prstGeom prst="rect">
            <a:avLst/>
          </a:prstGeom>
          <a:solidFill>
            <a:srgbClr val="9999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Policies and the laws being violated</a:t>
            </a:r>
            <a:endParaRPr lang="en-UM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7909A1-FA1A-4A60-87CD-D193A19213B8}"/>
              </a:ext>
            </a:extLst>
          </p:cNvPr>
          <p:cNvSpPr txBox="1"/>
          <p:nvPr/>
        </p:nvSpPr>
        <p:spPr>
          <a:xfrm>
            <a:off x="8480047" y="2722962"/>
            <a:ext cx="1529715" cy="312068"/>
          </a:xfrm>
          <a:prstGeom prst="rect">
            <a:avLst/>
          </a:prstGeom>
          <a:solidFill>
            <a:srgbClr val="9999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Percentage </a:t>
            </a:r>
            <a:endParaRPr lang="en-UM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52D377-5FFB-44B4-8C22-6E2D9BE54DE8}"/>
              </a:ext>
            </a:extLst>
          </p:cNvPr>
          <p:cNvSpPr txBox="1"/>
          <p:nvPr/>
        </p:nvSpPr>
        <p:spPr>
          <a:xfrm>
            <a:off x="2316323" y="4125180"/>
            <a:ext cx="890486" cy="523220"/>
          </a:xfrm>
          <a:prstGeom prst="rect">
            <a:avLst/>
          </a:prstGeom>
          <a:solidFill>
            <a:srgbClr val="9999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Privacy Policies </a:t>
            </a:r>
            <a:endParaRPr lang="en-UM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E477BE-E756-4474-98F0-46FFBDA48E10}"/>
              </a:ext>
            </a:extLst>
          </p:cNvPr>
          <p:cNvSpPr txBox="1"/>
          <p:nvPr/>
        </p:nvSpPr>
        <p:spPr>
          <a:xfrm>
            <a:off x="4951692" y="2257845"/>
            <a:ext cx="1055544" cy="307777"/>
          </a:xfrm>
          <a:prstGeom prst="rect">
            <a:avLst/>
          </a:prstGeom>
          <a:solidFill>
            <a:srgbClr val="9999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Country </a:t>
            </a:r>
            <a:endParaRPr lang="en-UM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BAFEA9-92E8-4149-93C7-568A5C59A94D}"/>
              </a:ext>
            </a:extLst>
          </p:cNvPr>
          <p:cNvSpPr txBox="1"/>
          <p:nvPr/>
        </p:nvSpPr>
        <p:spPr>
          <a:xfrm>
            <a:off x="2042812" y="2209601"/>
            <a:ext cx="1251549" cy="523220"/>
          </a:xfrm>
          <a:prstGeom prst="rect">
            <a:avLst/>
          </a:prstGeom>
          <a:solidFill>
            <a:srgbClr val="9999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Privacy Policy</a:t>
            </a:r>
            <a:endParaRPr lang="en-UM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11B771-F90E-4047-ADFE-2FF486F2D14D}"/>
              </a:ext>
            </a:extLst>
          </p:cNvPr>
          <p:cNvSpPr txBox="1"/>
          <p:nvPr/>
        </p:nvSpPr>
        <p:spPr>
          <a:xfrm>
            <a:off x="2316323" y="5586078"/>
            <a:ext cx="890486" cy="523220"/>
          </a:xfrm>
          <a:prstGeom prst="rect">
            <a:avLst/>
          </a:prstGeom>
          <a:solidFill>
            <a:srgbClr val="9999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 Laws </a:t>
            </a:r>
            <a:endParaRPr lang="en-UM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9FC8B3-ED66-4A99-B69F-8B1B785082FF}"/>
              </a:ext>
            </a:extLst>
          </p:cNvPr>
          <p:cNvSpPr txBox="1"/>
          <p:nvPr/>
        </p:nvSpPr>
        <p:spPr>
          <a:xfrm>
            <a:off x="4478399" y="480436"/>
            <a:ext cx="3375185" cy="338554"/>
          </a:xfrm>
          <a:prstGeom prst="rect">
            <a:avLst/>
          </a:prstGeom>
          <a:solidFill>
            <a:srgbClr val="0F5A9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Web Based Application Layer</a:t>
            </a:r>
            <a:endParaRPr lang="en-UM" sz="16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54278E-EF72-4773-8C39-A82F422F6977}"/>
              </a:ext>
            </a:extLst>
          </p:cNvPr>
          <p:cNvSpPr txBox="1"/>
          <p:nvPr/>
        </p:nvSpPr>
        <p:spPr>
          <a:xfrm>
            <a:off x="5367762" y="5213186"/>
            <a:ext cx="1120581" cy="307777"/>
          </a:xfrm>
          <a:prstGeom prst="rect">
            <a:avLst/>
          </a:prstGeom>
          <a:solidFill>
            <a:srgbClr val="9999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Correlation</a:t>
            </a:r>
            <a:endParaRPr lang="en-UM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FCD551-9F0C-45B0-96A7-E874B22F2874}"/>
              </a:ext>
            </a:extLst>
          </p:cNvPr>
          <p:cNvSpPr txBox="1"/>
          <p:nvPr/>
        </p:nvSpPr>
        <p:spPr>
          <a:xfrm>
            <a:off x="8401357" y="5520963"/>
            <a:ext cx="1159289" cy="307777"/>
          </a:xfrm>
          <a:prstGeom prst="rect">
            <a:avLst/>
          </a:prstGeom>
          <a:solidFill>
            <a:srgbClr val="9999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Compliance</a:t>
            </a:r>
            <a:endParaRPr lang="en-UM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48A93A-3217-4ED8-9007-EC96F6A56A73}"/>
              </a:ext>
            </a:extLst>
          </p:cNvPr>
          <p:cNvSpPr txBox="1"/>
          <p:nvPr/>
        </p:nvSpPr>
        <p:spPr>
          <a:xfrm>
            <a:off x="4240459" y="5949749"/>
            <a:ext cx="3375185" cy="338554"/>
          </a:xfrm>
          <a:prstGeom prst="rect">
            <a:avLst/>
          </a:prstGeom>
          <a:solidFill>
            <a:srgbClr val="0F5A9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NLP Layer</a:t>
            </a:r>
            <a:endParaRPr lang="en-UM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>
            <a:off x="385481" y="360000"/>
            <a:ext cx="11421037" cy="615875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28" name="Google Shape;128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19858"/>
          <a:stretch/>
        </p:blipFill>
        <p:spPr>
          <a:xfrm>
            <a:off x="676011" y="441132"/>
            <a:ext cx="10839900" cy="599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385481" y="358588"/>
            <a:ext cx="11421037" cy="615875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5" name="Google Shape;135;p17"/>
          <p:cNvSpPr txBox="1">
            <a:spLocks noGrp="1"/>
          </p:cNvSpPr>
          <p:nvPr>
            <p:ph type="title"/>
          </p:nvPr>
        </p:nvSpPr>
        <p:spPr>
          <a:xfrm>
            <a:off x="1024205" y="604112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 dirty="0"/>
              <a:t>MOTIVATION</a:t>
            </a:r>
            <a:endParaRPr dirty="0"/>
          </a:p>
        </p:txBody>
      </p:sp>
      <p:sp>
        <p:nvSpPr>
          <p:cNvPr id="136" name="Google Shape;136;p17"/>
          <p:cNvSpPr txBox="1">
            <a:spLocks noGrp="1"/>
          </p:cNvSpPr>
          <p:nvPr>
            <p:ph type="body" idx="1"/>
          </p:nvPr>
        </p:nvSpPr>
        <p:spPr>
          <a:xfrm>
            <a:off x="1014961" y="1542181"/>
            <a:ext cx="9720000" cy="47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91440" lvl="0" indent="-1905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Arial"/>
              <a:buChar char="●"/>
            </a:pPr>
            <a:r>
              <a:rPr lang="en-US" sz="3000" dirty="0"/>
              <a:t>Google was Fined $57 million under Europe’s new Data Privacy Law in January 2019*. </a:t>
            </a:r>
            <a:endParaRPr sz="3000" dirty="0"/>
          </a:p>
          <a:p>
            <a:pPr marL="91440" lvl="0" indent="-1905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●"/>
            </a:pPr>
            <a:r>
              <a:rPr lang="en-US" sz="3000" dirty="0"/>
              <a:t>The Federal Trade Commission (FTC) fined Facebook $5 Billion for privacy breaches**. </a:t>
            </a:r>
            <a:endParaRPr sz="3000" dirty="0"/>
          </a:p>
          <a:p>
            <a:pPr marL="91440" lvl="0" indent="-1905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●"/>
            </a:pPr>
            <a:r>
              <a:rPr lang="en-US" sz="3000" dirty="0"/>
              <a:t>Around 201 hours are needed by any average user just to read all the privacy policies encountered in a year. [1]</a:t>
            </a:r>
          </a:p>
          <a:p>
            <a:pPr marL="91440" lvl="0" indent="-1905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●"/>
            </a:pPr>
            <a:endParaRPr lang="en-US" sz="3000" dirty="0"/>
          </a:p>
          <a:p>
            <a:pPr marL="91440" lvl="0" indent="-1905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●"/>
            </a:pPr>
            <a:endParaRPr sz="3000" dirty="0"/>
          </a:p>
        </p:txBody>
      </p:sp>
      <p:sp>
        <p:nvSpPr>
          <p:cNvPr id="137" name="Google Shape;137;p17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29044E-EF3B-43DF-8810-B4642D43857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19576" y="5528032"/>
            <a:ext cx="10499115" cy="1099884"/>
          </a:xfrm>
        </p:spPr>
        <p:txBody>
          <a:bodyPr/>
          <a:lstStyle/>
          <a:p>
            <a:pPr algn="l"/>
            <a:r>
              <a:rPr lang="en-US" sz="1400" dirty="0"/>
              <a:t>* Adam Satariano (2019), “Google Is Fined $57 Million Under Europe’s Data Privacy Law”, </a:t>
            </a:r>
            <a:r>
              <a:rPr lang="en-US" sz="1400" i="1" dirty="0"/>
              <a:t>The New York Times</a:t>
            </a:r>
            <a:r>
              <a:rPr lang="en-US" sz="1400" dirty="0"/>
              <a:t>, 21 January. Available at: </a:t>
            </a:r>
            <a:r>
              <a:rPr lang="en-US" sz="1400" dirty="0">
                <a:hlinkClick r:id="rId3"/>
              </a:rPr>
              <a:t>www.nytimes.com</a:t>
            </a:r>
            <a:r>
              <a:rPr lang="en-US" sz="1400" dirty="0"/>
              <a:t> (Accessed: 27 August 2019)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** Michael </a:t>
            </a:r>
            <a:r>
              <a:rPr lang="en-US" sz="1400" dirty="0" err="1"/>
              <a:t>Nuñez</a:t>
            </a:r>
            <a:r>
              <a:rPr lang="en-US" sz="1400" dirty="0"/>
              <a:t> (2019), “FTC Slaps Facebook With $5 Billion Fine, Forces New Privacy Controls”, Forbes, 24 July. Available at: </a:t>
            </a:r>
            <a:r>
              <a:rPr lang="en-US" sz="1400" dirty="0">
                <a:hlinkClick r:id="rId4"/>
              </a:rPr>
              <a:t>www.forbes.com</a:t>
            </a:r>
            <a:r>
              <a:rPr lang="en-US" sz="1400" dirty="0"/>
              <a:t> (Accessed: 26 August 2019)</a:t>
            </a:r>
          </a:p>
          <a:p>
            <a:pPr marL="91440" lvl="0" indent="-190500" algn="l">
              <a:lnSpc>
                <a:spcPct val="90000"/>
              </a:lnSpc>
              <a:spcBef>
                <a:spcPts val="1400"/>
              </a:spcBef>
              <a:buSzPts val="3000"/>
              <a:buChar char="●"/>
            </a:pPr>
            <a:endParaRPr lang="en-US" dirty="0"/>
          </a:p>
          <a:p>
            <a:endParaRPr lang="en-UM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385481" y="358588"/>
            <a:ext cx="11421000" cy="6158700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 dirty="0"/>
              <a:t>MOTIVATION</a:t>
            </a:r>
            <a:endParaRPr dirty="0"/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1"/>
          </p:nvPr>
        </p:nvSpPr>
        <p:spPr>
          <a:xfrm>
            <a:off x="1024255" y="1605915"/>
            <a:ext cx="9720000" cy="47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91440" lvl="0" indent="-1905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Arial"/>
              <a:buChar char="●"/>
            </a:pPr>
            <a:r>
              <a:rPr lang="en-US" sz="3000" dirty="0"/>
              <a:t>Previous Work</a:t>
            </a:r>
            <a:endParaRPr sz="3000" dirty="0"/>
          </a:p>
          <a:p>
            <a:pPr marL="265430" lvl="1" indent="-200659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-US" sz="2800" dirty="0" err="1">
                <a:solidFill>
                  <a:srgbClr val="262626"/>
                </a:solidFill>
              </a:rPr>
              <a:t>Polisis</a:t>
            </a:r>
            <a:endParaRPr sz="2800" dirty="0">
              <a:solidFill>
                <a:srgbClr val="262626"/>
              </a:solidFill>
            </a:endParaRPr>
          </a:p>
          <a:p>
            <a:pPr marL="448310" lvl="2" indent="-200659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■"/>
            </a:pPr>
            <a:r>
              <a:rPr lang="en-US" sz="2800" dirty="0">
                <a:solidFill>
                  <a:srgbClr val="262626"/>
                </a:solidFill>
              </a:rPr>
              <a:t> It is a privacy policy analysis tool which has the ability to find and present what information is being collected and why, using deep learning. [2].</a:t>
            </a:r>
            <a:endParaRPr sz="2800" dirty="0">
              <a:solidFill>
                <a:srgbClr val="262626"/>
              </a:solidFill>
            </a:endParaRPr>
          </a:p>
          <a:p>
            <a:pPr marL="265430" lvl="1" indent="-200659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-US" sz="2800" dirty="0"/>
              <a:t>Automated Analysis of Privacy Requirements for Mobile Apps</a:t>
            </a:r>
            <a:endParaRPr sz="2800" dirty="0"/>
          </a:p>
          <a:p>
            <a:pPr marL="448310" lvl="2" indent="-200659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■"/>
            </a:pPr>
            <a:r>
              <a:rPr lang="en-US" sz="2800" dirty="0">
                <a:solidFill>
                  <a:srgbClr val="262626"/>
                </a:solidFill>
              </a:rPr>
              <a:t>It checks the policies of an app against its practices to find conflicts using automated analysis [3].</a:t>
            </a:r>
            <a:endParaRPr sz="2800" dirty="0"/>
          </a:p>
        </p:txBody>
      </p:sp>
      <p:sp>
        <p:nvSpPr>
          <p:cNvPr id="145" name="Google Shape;145;p18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385481" y="358588"/>
            <a:ext cx="11421037" cy="615875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1" name="Google Shape;151;p19"/>
          <p:cNvSpPr txBox="1"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9144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●"/>
            </a:pPr>
            <a:r>
              <a:rPr lang="en-US" sz="3000" dirty="0"/>
              <a:t>Building correlations between laws and the corresponding policies.</a:t>
            </a:r>
            <a:endParaRPr sz="3000" dirty="0"/>
          </a:p>
          <a:p>
            <a:pPr marL="91440" lvl="0" indent="-1905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Arial"/>
              <a:buChar char="●"/>
            </a:pPr>
            <a:r>
              <a:rPr lang="en-US" sz="3000" dirty="0"/>
              <a:t>Verifying if the policy is in accordance to its related law.</a:t>
            </a:r>
            <a:endParaRPr sz="3000" dirty="0"/>
          </a:p>
          <a:p>
            <a:pPr marL="91440" lvl="0" indent="-1905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Arial"/>
              <a:buChar char="●"/>
            </a:pPr>
            <a:r>
              <a:rPr lang="en-US" sz="3000" dirty="0"/>
              <a:t>Identifying any discrepancies between laws and policies.</a:t>
            </a:r>
            <a:endParaRPr sz="3000" dirty="0"/>
          </a:p>
          <a:p>
            <a:pPr marL="91440" lvl="0" indent="-1905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Font typeface="Arial"/>
              <a:buChar char="●"/>
            </a:pPr>
            <a:r>
              <a:rPr lang="en-US" sz="3000" dirty="0"/>
              <a:t>Implementing semi unsupervised learning.</a:t>
            </a:r>
            <a:endParaRPr sz="3000" dirty="0"/>
          </a:p>
        </p:txBody>
      </p:sp>
      <p:sp>
        <p:nvSpPr>
          <p:cNvPr id="152" name="Google Shape;152;p19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CHALLENGES</a:t>
            </a:r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/>
          <p:nvPr/>
        </p:nvSpPr>
        <p:spPr>
          <a:xfrm>
            <a:off x="385481" y="358588"/>
            <a:ext cx="11421037" cy="615875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9" name="Google Shape;159;p20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PROJECT SCOPE </a:t>
            </a:r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91440" lvl="0" indent="-1905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A web application where users can enter privacy policy and select a country to check if it follows the laws.</a:t>
            </a:r>
            <a:endParaRPr sz="3000"/>
          </a:p>
          <a:p>
            <a:pPr marL="91440" lvl="0" indent="-1905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A research and development based approach. </a:t>
            </a:r>
            <a:endParaRPr sz="3000"/>
          </a:p>
        </p:txBody>
      </p:sp>
      <p:sp>
        <p:nvSpPr>
          <p:cNvPr id="161" name="Google Shape;161;p20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/>
        </p:nvSpPr>
        <p:spPr>
          <a:xfrm>
            <a:off x="385481" y="358588"/>
            <a:ext cx="11421037" cy="615875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TIMELINE</a:t>
            </a:r>
            <a:endParaRPr/>
          </a:p>
        </p:txBody>
      </p:sp>
      <p:pic>
        <p:nvPicPr>
          <p:cNvPr id="168" name="Google Shape;16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638" y="1796950"/>
            <a:ext cx="10238336" cy="464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>
            <a:off x="385481" y="434788"/>
            <a:ext cx="11421000" cy="6158700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TOOLS AND TECHNOLOGIES</a:t>
            </a:r>
            <a:endParaRPr/>
          </a:p>
        </p:txBody>
      </p:sp>
      <p:pic>
        <p:nvPicPr>
          <p:cNvPr id="176" name="Google Shape;176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506815" y="2084815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2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4931663" y="2884925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15625" y="4654300"/>
            <a:ext cx="2968701" cy="135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4825" y="2281163"/>
            <a:ext cx="2968701" cy="1312200"/>
          </a:xfrm>
          <a:prstGeom prst="rect">
            <a:avLst/>
          </a:prstGeom>
          <a:noFill/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0" name="Google Shape;18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85150" y="4100075"/>
            <a:ext cx="1905000" cy="1905000"/>
          </a:xfrm>
          <a:prstGeom prst="rect">
            <a:avLst/>
          </a:prstGeom>
          <a:noFill/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1" name="Google Shape;181;p22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/>
          <p:nvPr/>
        </p:nvSpPr>
        <p:spPr>
          <a:xfrm>
            <a:off x="385481" y="358588"/>
            <a:ext cx="11421037" cy="615875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7" name="Google Shape;187;p23"/>
          <p:cNvSpPr txBox="1">
            <a:spLocks noGrp="1"/>
          </p:cNvSpPr>
          <p:nvPr>
            <p:ph type="title"/>
          </p:nvPr>
        </p:nvSpPr>
        <p:spPr>
          <a:xfrm>
            <a:off x="830950" y="536924"/>
            <a:ext cx="9720000" cy="1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88" name="Google Shape;188;p23"/>
          <p:cNvSpPr txBox="1">
            <a:spLocks noGrp="1"/>
          </p:cNvSpPr>
          <p:nvPr>
            <p:ph type="body" idx="1"/>
          </p:nvPr>
        </p:nvSpPr>
        <p:spPr>
          <a:xfrm>
            <a:off x="830950" y="1682325"/>
            <a:ext cx="9720000" cy="47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91440" lvl="0" indent="-1397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[1] A. M. McDonald and L. F. Cranor, “The cost of reading privacy policies,” ISJLP, vol.4, p. 543, 2008.</a:t>
            </a:r>
            <a:endParaRPr/>
          </a:p>
          <a:p>
            <a:pPr marL="91440" lvl="0" indent="-1397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[2] Harkous, H., Fawaz, K., Lebret, R., Schaub, F., Shin, K. G., &amp; Aberer, K. (2018). Polisis: Automated analysis and presentation of privacy policies using deep learning. Computation and Language.</a:t>
            </a:r>
            <a:endParaRPr/>
          </a:p>
          <a:p>
            <a:pPr marL="91440" lvl="0" indent="-1397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[3] S. Zimmeck, Z. Wang, L. Zou, R. Iyengar, B. Liu, F. Schaub, S. Wilson, N. Sadeh, S. M. Bellovin, and J. Reidenberg, “Automated analysis of privacy requirements for mobile apps,” in 24th Annual Network and Distributed System Security Symposium, NDSS 2017, 2017.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3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/>
          <p:nvPr/>
        </p:nvSpPr>
        <p:spPr>
          <a:xfrm>
            <a:off x="385481" y="358588"/>
            <a:ext cx="11421037" cy="615875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5" name="Google Shape;195;p24"/>
          <p:cNvSpPr txBox="1">
            <a:spLocks noGrp="1"/>
          </p:cNvSpPr>
          <p:nvPr>
            <p:ph type="title"/>
          </p:nvPr>
        </p:nvSpPr>
        <p:spPr>
          <a:xfrm>
            <a:off x="1024091" y="1128841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 dirty="0"/>
              <a:t>ANY QUESTIONS</a:t>
            </a:r>
            <a:endParaRPr dirty="0"/>
          </a:p>
        </p:txBody>
      </p:sp>
      <p:sp>
        <p:nvSpPr>
          <p:cNvPr id="196" name="Google Shape;196;p24"/>
          <p:cNvSpPr txBox="1">
            <a:spLocks noGrp="1"/>
          </p:cNvSpPr>
          <p:nvPr>
            <p:ph type="body" idx="1"/>
          </p:nvPr>
        </p:nvSpPr>
        <p:spPr>
          <a:xfrm>
            <a:off x="1024125" y="3091377"/>
            <a:ext cx="9720000" cy="32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9144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7200"/>
              <a:t>Thank you</a:t>
            </a:r>
            <a:endParaRPr sz="7200"/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385481" y="358588"/>
            <a:ext cx="11421037" cy="615875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3" name="Google Shape;203;p25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LIMITATIONS</a:t>
            </a:r>
            <a:endParaRPr/>
          </a:p>
        </p:txBody>
      </p:sp>
      <p:sp>
        <p:nvSpPr>
          <p:cNvPr id="204" name="Google Shape;204;p25"/>
          <p:cNvSpPr txBox="1"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 sz="2400"/>
              <a:t>Caters to privacy policies in English only.</a:t>
            </a:r>
            <a:endParaRPr sz="2400"/>
          </a:p>
          <a:p>
            <a:pPr marL="91440" lvl="0" indent="-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Focuses on only data protection laws and regulations.</a:t>
            </a:r>
            <a:endParaRPr sz="2400"/>
          </a:p>
          <a:p>
            <a:pPr marL="91440" lvl="0" indent="-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Can select law from a few countries.  </a:t>
            </a:r>
            <a:endParaRPr sz="240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5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/>
          <p:nvPr/>
        </p:nvSpPr>
        <p:spPr>
          <a:xfrm>
            <a:off x="385481" y="358588"/>
            <a:ext cx="11421000" cy="6158700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1" name="Google Shape;211;p26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DATASET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body" idx="1"/>
          </p:nvPr>
        </p:nvSpPr>
        <p:spPr>
          <a:xfrm>
            <a:off x="1024128" y="2286000"/>
            <a:ext cx="97200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91440" lvl="0" indent="-1397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-US"/>
              <a:t>465 labelled policies</a:t>
            </a:r>
            <a:endParaRPr/>
          </a:p>
          <a:p>
            <a:pPr marL="91440" lvl="0" indent="-139700" algn="l" rtl="0"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-US"/>
              <a:t>Around 1280 unlabelled policies</a:t>
            </a:r>
            <a:endParaRPr/>
          </a:p>
          <a:p>
            <a:pPr marL="91440" lvl="0" indent="-139700" algn="l" rtl="0"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-US"/>
              <a:t>Data Protection laws of Canada(PIPEDA), Singapore, Europe(GDPR), US-EU and US-Swiss(Privacy Shield Framework), China (The Personal Information Security Specification)</a:t>
            </a:r>
            <a:endParaRPr sz="240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/>
          <p:nvPr/>
        </p:nvSpPr>
        <p:spPr>
          <a:xfrm>
            <a:off x="385481" y="358588"/>
            <a:ext cx="11421037" cy="615875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9" name="Google Shape;219;p27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Skills Table</a:t>
            </a:r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C3437E-30DD-45B8-A6A8-A8F0B6C6CE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020" t="48164" r="31964" b="28027"/>
          <a:stretch/>
        </p:blipFill>
        <p:spPr>
          <a:xfrm>
            <a:off x="1272646" y="2150147"/>
            <a:ext cx="9646705" cy="30749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/>
          <p:nvPr/>
        </p:nvSpPr>
        <p:spPr>
          <a:xfrm>
            <a:off x="385481" y="358588"/>
            <a:ext cx="11421000" cy="6158700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7" name="Google Shape;227;p28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US"/>
              <a:t>Privacy Policy Categorization</a:t>
            </a:r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29" name="Google Shape;229;p28"/>
          <p:cNvSpPr txBox="1"/>
          <p:nvPr/>
        </p:nvSpPr>
        <p:spPr>
          <a:xfrm>
            <a:off x="983050" y="1654164"/>
            <a:ext cx="10600500" cy="47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The final annotation scheme according to </a:t>
            </a:r>
            <a:r>
              <a:rPr lang="en-US" sz="2400" dirty="0">
                <a:solidFill>
                  <a:schemeClr val="dk1"/>
                </a:solidFill>
              </a:rPr>
              <a:t>OPP-115 dataset </a:t>
            </a:r>
            <a:r>
              <a:rPr lang="en-US" sz="2400" dirty="0">
                <a:latin typeface="Twentieth Century"/>
                <a:ea typeface="Twentieth Century"/>
                <a:cs typeface="Twentieth Century"/>
                <a:sym typeface="Twentieth Century"/>
              </a:rPr>
              <a:t>consists of ten data practice categories*: </a:t>
            </a:r>
            <a:endParaRPr sz="2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wentieth Century"/>
                <a:sym typeface="Twentieth Century"/>
              </a:rPr>
              <a:t>1. First Party Collection/Use</a:t>
            </a:r>
            <a:endParaRPr sz="2400" dirty="0">
              <a:latin typeface="Twentieth Century"/>
              <a:sym typeface="Twentieth Centur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wentieth Century"/>
                <a:sym typeface="Twentieth Century"/>
              </a:rPr>
              <a:t>2. Third Party Sharing/Collection</a:t>
            </a:r>
            <a:endParaRPr sz="2400" dirty="0">
              <a:latin typeface="Twentieth Century"/>
              <a:sym typeface="Twentieth Centur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wentieth Century"/>
                <a:sym typeface="Twentieth Century"/>
              </a:rPr>
              <a:t>3. User Choice/Control</a:t>
            </a:r>
            <a:endParaRPr sz="2400" dirty="0">
              <a:latin typeface="Twentieth Century"/>
              <a:sym typeface="Twentieth Centur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wentieth Century"/>
                <a:sym typeface="Twentieth Century"/>
              </a:rPr>
              <a:t>4. User Access, Edit, &amp; Deletion</a:t>
            </a:r>
            <a:endParaRPr sz="2400" dirty="0">
              <a:latin typeface="Twentieth Century"/>
              <a:sym typeface="Twentieth Centur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wentieth Century"/>
                <a:sym typeface="Twentieth Century"/>
              </a:rPr>
              <a:t>5. Data Retention</a:t>
            </a:r>
            <a:endParaRPr sz="2400" dirty="0">
              <a:latin typeface="Twentieth Century"/>
              <a:sym typeface="Twentieth Centur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wentieth Century"/>
                <a:sym typeface="Twentieth Century"/>
              </a:rPr>
              <a:t>6. Data Security</a:t>
            </a:r>
            <a:endParaRPr sz="2400" dirty="0">
              <a:latin typeface="Twentieth Century"/>
              <a:sym typeface="Twentieth Centur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wentieth Century"/>
                <a:sym typeface="Twentieth Century"/>
              </a:rPr>
              <a:t>7. Policy Change</a:t>
            </a:r>
            <a:endParaRPr sz="2400" dirty="0">
              <a:latin typeface="Twentieth Century"/>
              <a:sym typeface="Twentieth Centur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wentieth Century"/>
                <a:sym typeface="Twentieth Century"/>
              </a:rPr>
              <a:t>8. Do Not Track</a:t>
            </a:r>
            <a:endParaRPr sz="2400" dirty="0">
              <a:latin typeface="Twentieth Century"/>
              <a:sym typeface="Twentieth Centur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wentieth Century"/>
                <a:sym typeface="Twentieth Century"/>
              </a:rPr>
              <a:t>9. International &amp; Specific Audiences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014DBC-EFC9-484C-9DB9-1631DA8885D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608450" y="6010956"/>
            <a:ext cx="10672260" cy="387296"/>
          </a:xfrm>
        </p:spPr>
        <p:txBody>
          <a:bodyPr/>
          <a:lstStyle/>
          <a:p>
            <a:pPr marL="457200" lvl="0" algn="l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400" dirty="0"/>
              <a:t>*Shomir Wilson, Florian </a:t>
            </a:r>
            <a:r>
              <a:rPr lang="en-US" sz="1400" dirty="0">
                <a:solidFill>
                  <a:schemeClr val="dk1"/>
                </a:solidFill>
              </a:rPr>
              <a:t>Schaub and Aswarth Abhilash Dara . </a:t>
            </a:r>
            <a:r>
              <a:rPr lang="en-US" sz="1400" dirty="0"/>
              <a:t>The creation and analysis of a website privacy policy corpus </a:t>
            </a:r>
            <a:r>
              <a:rPr lang="en-US" sz="1400" dirty="0">
                <a:solidFill>
                  <a:schemeClr val="dk1"/>
                </a:solidFill>
              </a:rPr>
              <a:t>. In Proceedings of the 54th Annual Meeting of the Association for Computational Linguistics, Berlin, Germany, August 2016.</a:t>
            </a:r>
            <a:endParaRPr lang="en-US" sz="1400" dirty="0"/>
          </a:p>
          <a:p>
            <a:pPr algn="l"/>
            <a:endParaRPr lang="en-UM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692</Words>
  <Application>Microsoft Office PowerPoint</Application>
  <PresentationFormat>Widescreen</PresentationFormat>
  <Paragraphs>88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Noto Sans Symbols</vt:lpstr>
      <vt:lpstr>Twentieth Century</vt:lpstr>
      <vt:lpstr>Integral</vt:lpstr>
      <vt:lpstr>CYBER COMPLIANCE</vt:lpstr>
      <vt:lpstr>PROJECT OVERVIEW</vt:lpstr>
      <vt:lpstr>PowerPoint Presentation</vt:lpstr>
      <vt:lpstr>PowerPoint Presentation</vt:lpstr>
      <vt:lpstr>MOTIVATION</vt:lpstr>
      <vt:lpstr>MOTIVATION</vt:lpstr>
      <vt:lpstr>CHALLENGES</vt:lpstr>
      <vt:lpstr>PROJECT SCOPE </vt:lpstr>
      <vt:lpstr>TIMELINE</vt:lpstr>
      <vt:lpstr>TOOLS AND TECHNOLOGIES</vt:lpstr>
      <vt:lpstr>REFERENCES</vt:lpstr>
      <vt:lpstr>ANY QUESTIONS</vt:lpstr>
      <vt:lpstr>LIMITATIONS</vt:lpstr>
      <vt:lpstr>DATASET</vt:lpstr>
      <vt:lpstr>Skills Table</vt:lpstr>
      <vt:lpstr>Privacy Policy Categorization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COMPLIANCE</dc:title>
  <dc:creator>Tehreem Javed</dc:creator>
  <cp:lastModifiedBy> </cp:lastModifiedBy>
  <cp:revision>12</cp:revision>
  <dcterms:modified xsi:type="dcterms:W3CDTF">2019-08-30T15:35:26Z</dcterms:modified>
</cp:coreProperties>
</file>